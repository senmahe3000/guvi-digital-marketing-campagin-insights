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336923</c:v>
                </c:pt>
                <c:pt idx="1">
                  <c:v>282930</c:v>
                </c:pt>
                <c:pt idx="2">
                  <c:v>338323</c:v>
                </c:pt>
                <c:pt idx="3">
                  <c:v>324223</c:v>
                </c:pt>
                <c:pt idx="4">
                  <c:v>351383</c:v>
                </c:pt>
                <c:pt idx="5">
                  <c:v>310624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5EEAD4"/>
              </a:solidFill>
              <a:effectLst/>
            </c:spPr>
          </c:dPt>
          <c:dPt>
            <c:idx val="3"/>
            <c:bubble3D val="0"/>
            <c:spPr>
              <a:solidFill>
                <a:srgbClr val="475569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bubble3D val="0"/>
            <c:spPr>
              <a:solidFill>
                <a:srgbClr val="CADCFC"/>
              </a:solidFill>
              <a:effectLst/>
            </c:spPr>
          </c:dPt>
          <c:dPt>
            <c:idx val="6"/>
            <c:bubble3D val="0"/>
            <c:spPr>
              <a:solidFill>
                <a:srgbClr val="B8504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Organic Search</c:v>
                </c:pt>
                <c:pt idx="1">
                  <c:v>Paid Search</c:v>
                </c:pt>
                <c:pt idx="2">
                  <c:v>Paid Social</c:v>
                </c:pt>
                <c:pt idx="3">
                  <c:v>Direct</c:v>
                </c:pt>
                <c:pt idx="4">
                  <c:v>Email</c:v>
                </c:pt>
                <c:pt idx="5">
                  <c:v>Referral</c:v>
                </c:pt>
                <c:pt idx="6">
                  <c:v>Affiliate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588453</c:v>
                </c:pt>
                <c:pt idx="1">
                  <c:v>434533</c:v>
                </c:pt>
                <c:pt idx="2">
                  <c:v>315048</c:v>
                </c:pt>
                <c:pt idx="3">
                  <c:v>245612</c:v>
                </c:pt>
                <c:pt idx="4">
                  <c:v>179907</c:v>
                </c:pt>
                <c:pt idx="5">
                  <c:v>114738</c:v>
                </c:pt>
                <c:pt idx="6">
                  <c:v>66115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Session Share by Device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Desktop</c:v>
                </c:pt>
                <c:pt idx="1">
                  <c:v>Mobile</c:v>
                </c:pt>
                <c:pt idx="2">
                  <c:v>Tablet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336373</c:v>
                </c:pt>
                <c:pt idx="1">
                  <c:v>332034</c:v>
                </c:pt>
                <c:pt idx="2">
                  <c:v>76893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6" y="1004926"/>
            <a:ext cx="641909" cy="641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FOR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Marketing Campaigns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Analytics &amp; Campaign Performance Dashboard  |  H1 2024 (Google Analytics Dataset)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572000"/>
            <a:ext cx="0" cy="0"/>
          </a:xfrm>
          <a:prstGeom prst="line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Maheswary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Digital Marketing Account Manager (Capstone Simulation, Google)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1234440"/>
            <a:ext cx="12188952" cy="5349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2029" y="199064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actionable insight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61188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campaign data isn't translated into clear, decision-ready insight.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38828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237" y="1990649"/>
            <a:ext cx="499262" cy="499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743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Unoptimized data utilization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84448" y="361188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and traffic data sit in silos instead of feeding strategy.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63056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46036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445" y="1990649"/>
            <a:ext cx="499262" cy="499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2743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performance tracking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91656" y="361188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consistent KPI tracking, trends and inefficiencies go unnoticed.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70264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53244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653" y="1990649"/>
            <a:ext cx="499262" cy="4992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53144" y="2743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Stalled ROI growth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98864" y="361188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clarity, budget keeps flowing to underperforming channels.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x HCL BADM  |  Digital Marketing Campaign Analytics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as a Digital Marketing Account Manager at Google, analyze H1 2024 campaign data, build an interactive dashboard, and convert findings into recommendations that improve ROI and client satisfaction.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360273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preprocess raw Google Analytics-style campaign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224528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224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16966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KPIs: Sessions, CPA, ROAS, Conversion Rate, Revenue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791456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91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73659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Power BI / Excel dashboard for stakeholders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358384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358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5303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a clear action plan to optimize spend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1280160"/>
            <a:ext cx="5120640" cy="4937760"/>
          </a:xfrm>
          <a:prstGeom prst="roundRect">
            <a:avLst>
              <a:gd name="adj" fmla="val 1852"/>
            </a:avLst>
          </a:prstGeom>
          <a:solidFill>
            <a:srgbClr val="2630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1691640"/>
            <a:ext cx="1051560" cy="10515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9592" y="1807312"/>
            <a:ext cx="820217" cy="82021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76656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40880" y="3383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Excel (data processing, pivot KPIs)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040880" y="38862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Power BI (interactive dashboard)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040880" y="4389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(data prep)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040880" y="48920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PowerPoint (stakeholder reporting)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x HCL BADM  |  Digital Marketing Campaign Analytics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2024 Google Analytics-style campaign dataset across 7 channels and 14 campaigns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642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2,534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x campaign x device x day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6642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2900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Channels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Search, Organic, Social, Email +3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6642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093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Tracked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1 - Jun 30, 2024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89720" y="15544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16642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8972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/ Row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8116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clicks, cost, conversions, revenue...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Captured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2560320" cy="384048"/>
          </a:xfrm>
          <a:prstGeom prst="roundRect">
            <a:avLst>
              <a:gd name="adj" fmla="val 119048"/>
            </a:avLst>
          </a:prstGeom>
          <a:solidFill>
            <a:srgbClr val="F4F6F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31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3931920"/>
            <a:ext cx="2560320" cy="384048"/>
          </a:xfrm>
          <a:prstGeom prst="roundRect">
            <a:avLst>
              <a:gd name="adj" fmla="val 119048"/>
            </a:avLst>
          </a:prstGeom>
          <a:solidFill>
            <a:srgbClr val="F4F6FB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3931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931920"/>
            <a:ext cx="2560320" cy="384048"/>
          </a:xfrm>
          <a:prstGeom prst="roundRect">
            <a:avLst>
              <a:gd name="adj" fmla="val 119048"/>
            </a:avLst>
          </a:prstGeom>
          <a:solidFill>
            <a:srgbClr val="F4F6FB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3931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78240" y="3931920"/>
            <a:ext cx="2560320" cy="384048"/>
          </a:xfrm>
          <a:prstGeom prst="roundRect">
            <a:avLst>
              <a:gd name="adj" fmla="val 119048"/>
            </a:avLst>
          </a:prstGeom>
          <a:solidFill>
            <a:srgbClr val="F4F6FB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0" y="3931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434840"/>
            <a:ext cx="2560320" cy="384048"/>
          </a:xfrm>
          <a:prstGeom prst="roundRect">
            <a:avLst>
              <a:gd name="adj" fmla="val 119048"/>
            </a:avLst>
          </a:prstGeom>
          <a:solidFill>
            <a:srgbClr val="F4F6F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434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91840" y="4434840"/>
            <a:ext cx="2560320" cy="384048"/>
          </a:xfrm>
          <a:prstGeom prst="roundRect">
            <a:avLst>
              <a:gd name="adj" fmla="val 119048"/>
            </a:avLst>
          </a:prstGeom>
          <a:solidFill>
            <a:srgbClr val="F4F6FB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4434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4434840"/>
            <a:ext cx="2560320" cy="384048"/>
          </a:xfrm>
          <a:prstGeom prst="roundRect">
            <a:avLst>
              <a:gd name="adj" fmla="val 119048"/>
            </a:avLst>
          </a:prstGeom>
          <a:solidFill>
            <a:srgbClr val="F4F6FB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0" y="4434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778240" y="4434840"/>
            <a:ext cx="2560320" cy="384048"/>
          </a:xfrm>
          <a:prstGeom prst="roundRect">
            <a:avLst>
              <a:gd name="adj" fmla="val 119048"/>
            </a:avLst>
          </a:prstGeom>
          <a:solidFill>
            <a:srgbClr val="F4F6FB"/>
          </a:solidFill>
          <a:ln/>
        </p:spPr>
      </p:sp>
      <p:sp>
        <p:nvSpPr>
          <p:cNvPr id="36" name="Text 34"/>
          <p:cNvSpPr/>
          <p:nvPr/>
        </p:nvSpPr>
        <p:spPr>
          <a:xfrm>
            <a:off x="8778240" y="4434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937760"/>
            <a:ext cx="2560320" cy="384048"/>
          </a:xfrm>
          <a:prstGeom prst="roundRect">
            <a:avLst>
              <a:gd name="adj" fmla="val 119048"/>
            </a:avLst>
          </a:prstGeom>
          <a:solidFill>
            <a:srgbClr val="F4F6FB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937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91840" y="4937760"/>
            <a:ext cx="2560320" cy="384048"/>
          </a:xfrm>
          <a:prstGeom prst="roundRect">
            <a:avLst>
              <a:gd name="adj" fmla="val 119048"/>
            </a:avLst>
          </a:prstGeom>
          <a:solidFill>
            <a:srgbClr val="F4F6FB"/>
          </a:solidFill>
          <a:ln/>
        </p:spPr>
      </p:sp>
      <p:sp>
        <p:nvSpPr>
          <p:cNvPr id="40" name="Text 38"/>
          <p:cNvSpPr/>
          <p:nvPr/>
        </p:nvSpPr>
        <p:spPr>
          <a:xfrm>
            <a:off x="3291840" y="4937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Rate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35040" y="4937760"/>
            <a:ext cx="2560320" cy="384048"/>
          </a:xfrm>
          <a:prstGeom prst="roundRect">
            <a:avLst>
              <a:gd name="adj" fmla="val 119048"/>
            </a:avLst>
          </a:prstGeom>
          <a:solidFill>
            <a:srgbClr val="F4F6FB"/>
          </a:solidFill>
          <a:ln/>
        </p:spPr>
      </p:sp>
      <p:sp>
        <p:nvSpPr>
          <p:cNvPr id="42" name="Text 40"/>
          <p:cNvSpPr/>
          <p:nvPr/>
        </p:nvSpPr>
        <p:spPr>
          <a:xfrm>
            <a:off x="6035040" y="4937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Session Duration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40880" y="52120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Preparation: deduplicated, validated cost/conversion logic per channel, handled zero-spend organic channels separately from paid ROAS calculations.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x HCL BADM  |  Digital Marketing Campaign Analytics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Performance (H1 2024)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7556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508760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745,300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233172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Sessions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32304" y="1371600"/>
            <a:ext cx="17556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78024" y="1508760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$22,331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478024" y="233172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 Spend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1371600"/>
            <a:ext cx="17556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61688" y="1508760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24,873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361688" y="233172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9632" y="1371600"/>
            <a:ext cx="17556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45352" y="1508760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$1.94M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245352" y="233172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83296" y="1371600"/>
            <a:ext cx="17556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29016" y="1508760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36.5x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129016" y="233172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Paid-Channel ROAS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966960" y="1371600"/>
            <a:ext cx="17556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12680" y="1508760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3.34%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012680" y="233172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Conversion Rate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by Month</a:t>
            </a:r>
            <a:endParaRPr lang="en-US" sz="16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48640" y="3840480"/>
          <a:ext cx="54864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640080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by Channel</a:t>
            </a:r>
            <a:endParaRPr lang="en-US" sz="16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6400800" y="3840480"/>
          <a:ext cx="54864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x HCL BADM  |  Digital Marketing Campaign Analytics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Channel-Level KPI Breakdown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463040"/>
                <a:gridCol w="1737360"/>
                <a:gridCol w="1737360"/>
                <a:gridCol w="118872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221,813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$588,453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163,877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$12,469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$434,533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34.85x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Social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124,251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$9,322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$315,048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91,540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$245,612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72,171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$179,907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44,668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$114,738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Affiliate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26,980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$66,115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122.53x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and Direct drive the most revenue at zero media cost. Among paid channels, Affiliate shows the strongest ROAS, followed by Paid Search.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x HCL BADM  |  Digital Marketing Campaign Analytics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Campaign-Level Winners &amp; Watchlist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544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16148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276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Campaigns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Blog Traffic (Organic)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6334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$299,845 revenue, 3,914 conversions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Product Pages (Organic)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5478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$288,608 revenue, 3,699 conversions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Conquest (Paid Search)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44622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36.5x ROAS — best paid efficiency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14400" y="5029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Sites (Referral)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5376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$114,738 revenue at zero media cost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17920" y="1280160"/>
            <a:ext cx="539496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37960" y="15544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7" name="Image 1" descr="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1614830"/>
            <a:ext cx="427939" cy="42793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23760" y="16276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to Review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58368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B2B Leads (Paid Social)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583680" y="26334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ROAS at 31.8x among paid campaigns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58368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Search (Paid Search)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583680" y="35478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33.6x ROAS — below the Search channel average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58368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 Retargeting (Paid Social)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583680" y="44622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34.5x ROAS, highest cost-per-click in Social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583680" y="5029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Search Q2 (Paid Search)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583680" y="5376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conversion volume vs. spend share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x HCL BADM  |  Digital Marketing Campaign Analytics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Performance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4937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46304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5" name="Shape 2"/>
          <p:cNvSpPr/>
          <p:nvPr/>
        </p:nvSpPr>
        <p:spPr>
          <a:xfrm>
            <a:off x="6263640" y="16916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166" y="1782166"/>
            <a:ext cx="641909" cy="6419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3152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336,373 sessions   |   3.30% conv. rate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5040" y="297180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0" name="Shape 6"/>
          <p:cNvSpPr/>
          <p:nvPr/>
        </p:nvSpPr>
        <p:spPr>
          <a:xfrm>
            <a:off x="6263640" y="3200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166" y="3290926"/>
            <a:ext cx="641909" cy="6419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1520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315200" y="3520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332,034 sessions   |   3.36% conv. rate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5040" y="448056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5" name="Shape 10"/>
          <p:cNvSpPr/>
          <p:nvPr/>
        </p:nvSpPr>
        <p:spPr>
          <a:xfrm>
            <a:off x="6263640" y="47091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tab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166" y="4799686"/>
            <a:ext cx="641909" cy="64190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0" y="4617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315200" y="5029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76,893 sessions   |   3.40% conv. rate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035040" y="557784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has nearly closed the gap with Desktop in both traffic and conversion rate — confirming the audience is mobile-first and UX should be prioritized accordingly.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x HCL BADM  |  Digital Marketing Campaign Analytics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263080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icon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561" y="1655521"/>
            <a:ext cx="392278" cy="3922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2402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&amp; Direct lead revenue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7432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channels generate over $1M combined — the strongest ROI in the entire mix.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43400" y="13716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263080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16002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1" descr="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321" y="1655521"/>
            <a:ext cx="392278" cy="39227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2402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has outsized efficiency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0" y="27432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spend channel returns the highest ROAS (122.5x) — currently under-scaled.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138160" y="13716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263080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6760" y="16002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2" descr="icons/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081" y="1655521"/>
            <a:ext cx="392278" cy="39227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22402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is now a primary surface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366760" y="27432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sessions and conversion rate are statistically on par with Desktop.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8404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263080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3" descr="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61" y="4124401"/>
            <a:ext cx="392278" cy="39227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7091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seasonality pattern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77240" y="52120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peaks in March and May; February is the softest month of H1.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343400" y="38404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263080"/>
          </a:solidFill>
          <a:ln/>
        </p:spPr>
      </p:sp>
      <p:sp>
        <p:nvSpPr>
          <p:cNvPr id="24" name="Shape 18"/>
          <p:cNvSpPr/>
          <p:nvPr/>
        </p:nvSpPr>
        <p:spPr>
          <a:xfrm>
            <a:off x="4572000" y="40690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4" descr="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321" y="4124401"/>
            <a:ext cx="392278" cy="39227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72000" y="47091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is consistent, not explosive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572000" y="52120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~34x ROAS, but with the smallest spread between top and bottom campaigns.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138160" y="38404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263080"/>
          </a:solidFill>
          <a:ln/>
        </p:spPr>
      </p:sp>
      <p:sp>
        <p:nvSpPr>
          <p:cNvPr id="29" name="Shape 22"/>
          <p:cNvSpPr/>
          <p:nvPr/>
        </p:nvSpPr>
        <p:spPr>
          <a:xfrm>
            <a:off x="8366760" y="40690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0" name="Image 5" descr="icons/sha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2081" y="4124401"/>
            <a:ext cx="392278" cy="39227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66760" y="47091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shows the widest performance gap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366760" y="52120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Reels (35.1x) clearly outperforms LinkedIn B2B Leads (31.8x) on ROAS.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x HCL BADM  |  Digital Marketing Campaign Analytics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Action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budget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10-15% of spend from Generic Search Q2 and FB Retargeting toward Competitor Conquest and IG Reels Awareness.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Affiliate spend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16459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2-3x increase in Affiliate budget — its 122.5x ROAS suggests significant headroom before diminishing returns.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834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LinkedIn creative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2461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new ad creative and audience targeting for LinkedIn B2B Leads before considering a budget cut.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28803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2834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organic &amp; SEO investment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32461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content and technical SEO investment — it is the single largest zero-cost revenue driver.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4434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 mobile-first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846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mobile checkout and landing page speed given mobile traffic now matches desktop.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44805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4434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seasonality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4846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 budget ahead of March and May peaks; trim spend in the February trough.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x HCL BADM  |  Digital Marketing Campaign Analytics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Excel (live pivot-style KPI sheets) and Power BI (interactive cross-filtering dashboard)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17977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05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Channel_Summary — live SUMIF KPI table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834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Monthly_Trend — revenue &amp; sessions by month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291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Device_Summary — device split with chart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3749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Insights_Recommendations tab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4206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Raw_Data — 2,534-row source table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146304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7960" y="17373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1" descr="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1797710"/>
            <a:ext cx="427939" cy="42793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18105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83680" y="23774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KPI card row: Sessions, Cost, Conversions, ROAS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83680" y="2834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Channel performance bar chart with slicer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583680" y="3291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Monthly revenue trend line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583680" y="3749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Device donut chart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583680" y="4206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Drill-through to campaign-level detail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x HCL BADM  |  Digital Marketing Campaign Analytics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" name="Image 0" descr="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6" y="1004926"/>
            <a:ext cx="641909" cy="6419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3774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Maheswary  |  GUVI x HCL BADM Capstone Project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x HCL BADM  |  Digital Marketing Campaign Analytics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Insights for Digital Marketing Campaigns</dc:title>
  <dc:subject>PptxGenJS Presentation</dc:subject>
  <dc:creator>Maheswary</dc:creator>
  <cp:lastModifiedBy>Maheswary</cp:lastModifiedBy>
  <cp:revision>1</cp:revision>
  <dcterms:created xsi:type="dcterms:W3CDTF">2026-06-30T07:01:02Z</dcterms:created>
  <dcterms:modified xsi:type="dcterms:W3CDTF">2026-06-30T07:01:02Z</dcterms:modified>
</cp:coreProperties>
</file>